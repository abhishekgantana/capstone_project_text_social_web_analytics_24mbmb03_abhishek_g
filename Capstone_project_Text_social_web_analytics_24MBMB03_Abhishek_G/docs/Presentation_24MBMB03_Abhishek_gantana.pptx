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Futura Bold" panose="020B0604020202020204" charset="0"/>
      <p:regular r:id="rId11"/>
    </p:embeddedFont>
    <p:embeddedFont>
      <p:font typeface="Montserrat" panose="020F0502020204030204" pitchFamily="2" charset="0"/>
      <p:regular r:id="rId12"/>
    </p:embeddedFont>
    <p:embeddedFont>
      <p:font typeface="Montserrat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401" y="510630"/>
            <a:ext cx="18241199" cy="185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23"/>
              </a:lnSpc>
            </a:pPr>
            <a:r>
              <a:rPr lang="en-US" sz="11271" b="1" spc="1600">
                <a:solidFill>
                  <a:srgbClr val="041226">
                    <a:alpha val="10980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CAPSTONE PROJECT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0024" y="2139829"/>
            <a:ext cx="17470674" cy="2191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49"/>
              </a:lnSpc>
            </a:pPr>
            <a:r>
              <a:rPr lang="en-US" sz="5963" b="1" u="sng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Text, Social Media &amp; Web Analytics</a:t>
            </a:r>
          </a:p>
          <a:p>
            <a:pPr algn="ctr">
              <a:lnSpc>
                <a:spcPts val="8349"/>
              </a:lnSpc>
            </a:pPr>
            <a:endParaRPr lang="en-US" sz="5963" b="1" u="sng">
              <a:solidFill>
                <a:srgbClr val="7C7AAC"/>
              </a:solidFill>
              <a:latin typeface="Futura Bold"/>
              <a:ea typeface="Futura Bold"/>
              <a:cs typeface="Futura Bold"/>
              <a:sym typeface="Futura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90954" y="5946380"/>
            <a:ext cx="14665434" cy="106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6"/>
              </a:lnSpc>
            </a:pPr>
            <a:r>
              <a:rPr lang="en-US" sz="3047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ANALYZING PUBLIC SENTIMENTANDENGAGEMENT TRENDS</a:t>
            </a:r>
          </a:p>
          <a:p>
            <a:pPr algn="ctr">
              <a:lnSpc>
                <a:spcPts val="4266"/>
              </a:lnSpc>
            </a:pPr>
            <a:endParaRPr lang="en-US" sz="3047">
              <a:solidFill>
                <a:srgbClr val="4D4B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963400" y="7382603"/>
            <a:ext cx="5429289" cy="27831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624"/>
              </a:lnSpc>
              <a:spcBef>
                <a:spcPct val="0"/>
              </a:spcBef>
            </a:pPr>
            <a:r>
              <a:rPr lang="en-US" sz="4017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Abhishek Gantana</a:t>
            </a:r>
          </a:p>
          <a:p>
            <a:pPr algn="just">
              <a:lnSpc>
                <a:spcPts val="5624"/>
              </a:lnSpc>
              <a:spcBef>
                <a:spcPct val="0"/>
              </a:spcBef>
            </a:pPr>
            <a:r>
              <a:rPr lang="en-US" sz="4017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Reg no: 24MBMB03</a:t>
            </a:r>
          </a:p>
          <a:p>
            <a:pPr algn="just">
              <a:lnSpc>
                <a:spcPts val="5624"/>
              </a:lnSpc>
              <a:spcBef>
                <a:spcPct val="0"/>
              </a:spcBef>
            </a:pPr>
            <a:r>
              <a:rPr lang="en-US" sz="4017" b="1" dirty="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MBA Business Analytics</a:t>
            </a:r>
          </a:p>
          <a:p>
            <a:pPr algn="ctr">
              <a:lnSpc>
                <a:spcPts val="5624"/>
              </a:lnSpc>
              <a:spcBef>
                <a:spcPct val="0"/>
              </a:spcBef>
            </a:pPr>
            <a:endParaRPr lang="en-US" sz="4017" b="1" dirty="0">
              <a:solidFill>
                <a:srgbClr val="000000"/>
              </a:solidFill>
              <a:latin typeface="Futura Bold"/>
              <a:ea typeface="Futura Bold"/>
              <a:cs typeface="Futura Bold"/>
              <a:sym typeface="Futura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87253" y="4038138"/>
            <a:ext cx="17513495" cy="2229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4"/>
              </a:lnSpc>
              <a:spcBef>
                <a:spcPct val="0"/>
              </a:spcBef>
            </a:pPr>
            <a:r>
              <a:rPr lang="en-US" sz="4110" b="1" spc="-45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Title:”Advanced Sales Forecasting: A Machine Learning Approach to Market-Integrated Predictions”</a:t>
            </a:r>
          </a:p>
          <a:p>
            <a:pPr algn="ctr">
              <a:lnSpc>
                <a:spcPts val="5754"/>
              </a:lnSpc>
              <a:spcBef>
                <a:spcPct val="0"/>
              </a:spcBef>
            </a:pPr>
            <a:endParaRPr lang="en-US" sz="4110" b="1" spc="-45">
              <a:solidFill>
                <a:srgbClr val="000000"/>
              </a:solidFill>
              <a:latin typeface="Futura Bold"/>
              <a:ea typeface="Futura Bold"/>
              <a:cs typeface="Futura Bold"/>
              <a:sym typeface="Futura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561179" y="1028700"/>
            <a:ext cx="759822" cy="750151"/>
          </a:xfrm>
          <a:custGeom>
            <a:avLst/>
            <a:gdLst/>
            <a:ahLst/>
            <a:cxnLst/>
            <a:rect l="l" t="t" r="r" b="b"/>
            <a:pathLst>
              <a:path w="759822" h="750151">
                <a:moveTo>
                  <a:pt x="759821" y="750151"/>
                </a:moveTo>
                <a:lnTo>
                  <a:pt x="0" y="750151"/>
                </a:lnTo>
                <a:lnTo>
                  <a:pt x="0" y="0"/>
                </a:lnTo>
                <a:lnTo>
                  <a:pt x="759821" y="0"/>
                </a:lnTo>
                <a:lnTo>
                  <a:pt x="759821" y="75015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87790" y="8891519"/>
            <a:ext cx="371510" cy="366781"/>
          </a:xfrm>
          <a:custGeom>
            <a:avLst/>
            <a:gdLst/>
            <a:ahLst/>
            <a:cxnLst/>
            <a:rect l="l" t="t" r="r" b="b"/>
            <a:pathLst>
              <a:path w="371510" h="366781">
                <a:moveTo>
                  <a:pt x="0" y="0"/>
                </a:moveTo>
                <a:lnTo>
                  <a:pt x="371510" y="0"/>
                </a:lnTo>
                <a:lnTo>
                  <a:pt x="37151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9144000" y="2085028"/>
            <a:ext cx="0" cy="7476734"/>
          </a:xfrm>
          <a:prstGeom prst="line">
            <a:avLst/>
          </a:prstGeom>
          <a:ln w="38100" cap="flat">
            <a:solidFill>
              <a:srgbClr val="000000">
                <a:alpha val="41961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 rot="-24000">
            <a:off x="882769" y="3462035"/>
            <a:ext cx="7697977" cy="3362930"/>
          </a:xfrm>
          <a:custGeom>
            <a:avLst/>
            <a:gdLst/>
            <a:ahLst/>
            <a:cxnLst/>
            <a:rect l="l" t="t" r="r" b="b"/>
            <a:pathLst>
              <a:path w="7697977" h="3362930">
                <a:moveTo>
                  <a:pt x="23104" y="0"/>
                </a:moveTo>
                <a:lnTo>
                  <a:pt x="7697977" y="53581"/>
                </a:lnTo>
                <a:lnTo>
                  <a:pt x="7674873" y="3362930"/>
                </a:lnTo>
                <a:lnTo>
                  <a:pt x="0" y="3309349"/>
                </a:lnTo>
                <a:lnTo>
                  <a:pt x="23104" y="0"/>
                </a:lnTo>
                <a:close/>
              </a:path>
            </a:pathLst>
          </a:custGeom>
          <a:blipFill>
            <a:blip r:embed="rId5"/>
            <a:stretch>
              <a:fillRect l="-2395" t="-31556" r="-1196" b="-540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70190" y="928516"/>
            <a:ext cx="5723136" cy="2839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6"/>
              </a:lnSpc>
            </a:pPr>
            <a:r>
              <a:rPr lang="en-US" sz="5219" b="1" u="sng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Problem statement &amp; Methodology</a:t>
            </a:r>
          </a:p>
          <a:p>
            <a:pPr algn="l">
              <a:lnSpc>
                <a:spcPts val="7306"/>
              </a:lnSpc>
              <a:spcBef>
                <a:spcPct val="0"/>
              </a:spcBef>
            </a:pPr>
            <a:endParaRPr lang="en-US" sz="5219" b="1" u="sng">
              <a:solidFill>
                <a:srgbClr val="7C7AAC"/>
              </a:solidFill>
              <a:latin typeface="Futura Bold"/>
              <a:ea typeface="Futura Bold"/>
              <a:cs typeface="Futura Bold"/>
              <a:sym typeface="Futura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61179" y="7420858"/>
            <a:ext cx="4170579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Brands need real-time sentiment and engagement intelligence from digital text sources.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endParaRPr lang="en-US" sz="2099">
              <a:solidFill>
                <a:srgbClr val="4D4B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6579" y="181580"/>
            <a:ext cx="17165643" cy="1551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88"/>
              </a:lnSpc>
            </a:pPr>
            <a:r>
              <a:rPr lang="en-US" sz="6193" b="1" spc="991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Problem statement &amp;  objectives</a:t>
            </a:r>
          </a:p>
          <a:p>
            <a:pPr algn="ctr">
              <a:lnSpc>
                <a:spcPts val="5388"/>
              </a:lnSpc>
            </a:pPr>
            <a:endParaRPr lang="en-US" sz="6193" b="1" spc="991">
              <a:solidFill>
                <a:srgbClr val="041226">
                  <a:alpha val="4706"/>
                </a:srgbClr>
              </a:solidFill>
              <a:latin typeface="Futura Bold"/>
              <a:ea typeface="Futura Bold"/>
              <a:cs typeface="Futura Bold"/>
              <a:sym typeface="Futura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157306" y="7408880"/>
            <a:ext cx="3542095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Rapidly evolving online</a:t>
            </a:r>
          </a:p>
          <a:p>
            <a:pPr algn="just">
              <a:lnSpc>
                <a:spcPts val="2939"/>
              </a:lnSpc>
            </a:pPr>
            <a:r>
              <a:rPr lang="en-US" sz="2099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narratives demand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instant understanding.</a:t>
            </a: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>
              <a:solidFill>
                <a:srgbClr val="4D4B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>
              <a:solidFill>
                <a:srgbClr val="4D4B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341322" y="828675"/>
            <a:ext cx="5723136" cy="2839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6"/>
              </a:lnSpc>
            </a:pPr>
            <a:r>
              <a:rPr lang="en-US" sz="5219" b="1" u="sng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Key Objectives</a:t>
            </a:r>
          </a:p>
          <a:p>
            <a:pPr algn="l">
              <a:lnSpc>
                <a:spcPts val="7306"/>
              </a:lnSpc>
            </a:pPr>
            <a:endParaRPr lang="en-US" sz="5219" b="1" u="sng">
              <a:solidFill>
                <a:srgbClr val="7C7AAC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algn="l">
              <a:lnSpc>
                <a:spcPts val="7306"/>
              </a:lnSpc>
              <a:spcBef>
                <a:spcPct val="0"/>
              </a:spcBef>
            </a:pPr>
            <a:endParaRPr lang="en-US" sz="5219" b="1" u="sng">
              <a:solidFill>
                <a:srgbClr val="7C7AAC"/>
              </a:solidFill>
              <a:latin typeface="Futura Bold"/>
              <a:ea typeface="Futura Bold"/>
              <a:cs typeface="Futura Bold"/>
              <a:sym typeface="Futura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341322" y="2221779"/>
            <a:ext cx="5016818" cy="397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099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•   Extract sentiment from social, review, and news data</a:t>
            </a:r>
          </a:p>
          <a:p>
            <a:pPr algn="l">
              <a:lnSpc>
                <a:spcPts val="3170"/>
              </a:lnSpc>
            </a:pPr>
            <a:endParaRPr lang="en-US" sz="2099">
              <a:solidFill>
                <a:srgbClr val="4D4B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170"/>
              </a:lnSpc>
            </a:pPr>
            <a:r>
              <a:rPr lang="en-US" sz="2099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•  Visualize trends and engagement patterns</a:t>
            </a:r>
          </a:p>
          <a:p>
            <a:pPr algn="l">
              <a:lnSpc>
                <a:spcPts val="3170"/>
              </a:lnSpc>
            </a:pPr>
            <a:endParaRPr lang="en-US" sz="2099">
              <a:solidFill>
                <a:srgbClr val="4D4B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170"/>
              </a:lnSpc>
            </a:pPr>
            <a:r>
              <a:rPr lang="en-US" sz="2099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•  Derive actionable insights for marketing and business strategy</a:t>
            </a:r>
          </a:p>
          <a:p>
            <a:pPr algn="l">
              <a:lnSpc>
                <a:spcPts val="3170"/>
              </a:lnSpc>
            </a:pPr>
            <a:endParaRPr lang="en-US" sz="2099">
              <a:solidFill>
                <a:srgbClr val="4D4B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3170"/>
              </a:lnSpc>
            </a:pPr>
            <a:endParaRPr lang="en-US" sz="2099">
              <a:solidFill>
                <a:srgbClr val="4D4B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341322" y="6732078"/>
            <a:ext cx="5016818" cy="3554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66"/>
              </a:lnSpc>
            </a:pPr>
            <a:r>
              <a:rPr lang="en-US" sz="2099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• Data Collection &amp; Cleaning</a:t>
            </a:r>
          </a:p>
          <a:p>
            <a:pPr algn="just">
              <a:lnSpc>
                <a:spcPts val="4766"/>
              </a:lnSpc>
            </a:pPr>
            <a:r>
              <a:rPr lang="en-US" sz="2099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• NLP-based Sentiment Analysis</a:t>
            </a:r>
          </a:p>
          <a:p>
            <a:pPr algn="just">
              <a:lnSpc>
                <a:spcPts val="4766"/>
              </a:lnSpc>
            </a:pPr>
            <a:r>
              <a:rPr lang="en-US" sz="2099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• Engagement Metric Analysis</a:t>
            </a:r>
          </a:p>
          <a:p>
            <a:pPr algn="just">
              <a:lnSpc>
                <a:spcPts val="4766"/>
              </a:lnSpc>
            </a:pPr>
            <a:r>
              <a:rPr lang="en-US" sz="2099">
                <a:solidFill>
                  <a:srgbClr val="4D4B66"/>
                </a:solidFill>
                <a:latin typeface="Montserrat"/>
                <a:ea typeface="Montserrat"/>
                <a:cs typeface="Montserrat"/>
                <a:sym typeface="Montserrat"/>
              </a:rPr>
              <a:t>•Visualization &amp; Insight Generation</a:t>
            </a:r>
          </a:p>
          <a:p>
            <a:pPr algn="just">
              <a:lnSpc>
                <a:spcPts val="2939"/>
              </a:lnSpc>
            </a:pPr>
            <a:endParaRPr lang="en-US" sz="2099">
              <a:solidFill>
                <a:srgbClr val="4D4B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2939"/>
              </a:lnSpc>
            </a:pPr>
            <a:endParaRPr lang="en-US" sz="2099">
              <a:solidFill>
                <a:srgbClr val="4D4B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endParaRPr lang="en-US" sz="2099">
              <a:solidFill>
                <a:srgbClr val="4D4B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341322" y="5601048"/>
            <a:ext cx="5723136" cy="991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6"/>
              </a:lnSpc>
              <a:spcBef>
                <a:spcPct val="0"/>
              </a:spcBef>
            </a:pPr>
            <a:r>
              <a:rPr lang="en-US" sz="5219" b="1" u="sng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Methodology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8700" y="8891519"/>
            <a:ext cx="371510" cy="366781"/>
          </a:xfrm>
          <a:custGeom>
            <a:avLst/>
            <a:gdLst/>
            <a:ahLst/>
            <a:cxnLst/>
            <a:rect l="l" t="t" r="r" b="b"/>
            <a:pathLst>
              <a:path w="371510" h="366781">
                <a:moveTo>
                  <a:pt x="371510" y="0"/>
                </a:moveTo>
                <a:lnTo>
                  <a:pt x="0" y="0"/>
                </a:lnTo>
                <a:lnTo>
                  <a:pt x="0" y="366781"/>
                </a:lnTo>
                <a:lnTo>
                  <a:pt x="371510" y="366781"/>
                </a:lnTo>
                <a:lnTo>
                  <a:pt x="3715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16499478" y="1028700"/>
            <a:ext cx="759822" cy="750151"/>
          </a:xfrm>
          <a:custGeom>
            <a:avLst/>
            <a:gdLst/>
            <a:ahLst/>
            <a:cxnLst/>
            <a:rect l="l" t="t" r="r" b="b"/>
            <a:pathLst>
              <a:path w="759822" h="750151">
                <a:moveTo>
                  <a:pt x="0" y="750151"/>
                </a:moveTo>
                <a:lnTo>
                  <a:pt x="759822" y="750151"/>
                </a:lnTo>
                <a:lnTo>
                  <a:pt x="759822" y="0"/>
                </a:lnTo>
                <a:lnTo>
                  <a:pt x="0" y="0"/>
                </a:lnTo>
                <a:lnTo>
                  <a:pt x="0" y="75015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8399755" cy="11441911"/>
          </a:xfrm>
          <a:custGeom>
            <a:avLst/>
            <a:gdLst/>
            <a:ahLst/>
            <a:cxnLst/>
            <a:rect l="l" t="t" r="r" b="b"/>
            <a:pathLst>
              <a:path w="8399755" h="11441911">
                <a:moveTo>
                  <a:pt x="0" y="0"/>
                </a:moveTo>
                <a:lnTo>
                  <a:pt x="8399755" y="0"/>
                </a:lnTo>
                <a:lnTo>
                  <a:pt x="8399755" y="11441911"/>
                </a:lnTo>
                <a:lnTo>
                  <a:pt x="0" y="114419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649" r="-16567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948339" y="1522312"/>
            <a:ext cx="7931050" cy="3786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04"/>
              </a:lnSpc>
            </a:pPr>
            <a:r>
              <a:rPr lang="en-US" sz="8871" b="1" spc="70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Data &amp; Implementation</a:t>
            </a:r>
          </a:p>
          <a:p>
            <a:pPr algn="l">
              <a:lnSpc>
                <a:spcPts val="9404"/>
              </a:lnSpc>
            </a:pPr>
            <a:endParaRPr lang="en-US" sz="8871" b="1" spc="70">
              <a:solidFill>
                <a:srgbClr val="7C7AAC"/>
              </a:solidFill>
              <a:latin typeface="Futura Bold"/>
              <a:ea typeface="Futura Bold"/>
              <a:cs typeface="Futura Bold"/>
              <a:sym typeface="Futura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0" y="4432712"/>
            <a:ext cx="5866126" cy="561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>
                <a:solidFill>
                  <a:srgbClr val="4D4D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Datasets Used: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•  tweets_sample.csv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•  reviews_data.csv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•  news_headlines.csv</a:t>
            </a:r>
          </a:p>
          <a:p>
            <a:pPr algn="l">
              <a:lnSpc>
                <a:spcPts val="2799"/>
              </a:lnSpc>
            </a:pPr>
            <a:endParaRPr lang="en-US" sz="1999">
              <a:solidFill>
                <a:srgbClr val="4D4D4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799"/>
              </a:lnSpc>
            </a:pPr>
            <a:r>
              <a:rPr lang="en-US" sz="1999" b="1">
                <a:solidFill>
                  <a:srgbClr val="4D4D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Preprocessing Steps: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• Tokenization, stopword removal,    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  normalization</a:t>
            </a:r>
          </a:p>
          <a:p>
            <a:pPr algn="l">
              <a:lnSpc>
                <a:spcPts val="2799"/>
              </a:lnSpc>
            </a:pPr>
            <a:endParaRPr lang="en-US" sz="1999">
              <a:solidFill>
                <a:srgbClr val="4D4D4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799"/>
              </a:lnSpc>
            </a:pPr>
            <a:r>
              <a:rPr lang="en-US" sz="1999" b="1">
                <a:solidFill>
                  <a:srgbClr val="4D4D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Techniques: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•  Sentiment Analysis: VADER, TextBlob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•  Keyword Extraction: Frequency &amp; Word     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   Cloud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•  Engagement Analysis: Correlation between      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   sentiment &amp; likes/retweets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1999">
              <a:solidFill>
                <a:srgbClr val="4D4D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812600"/>
            <a:ext cx="12598687" cy="384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1"/>
              </a:lnSpc>
            </a:pPr>
            <a:r>
              <a:rPr lang="en-US" sz="27358" b="1" spc="4377">
                <a:solidFill>
                  <a:srgbClr val="041226">
                    <a:alpha val="3922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DATA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1028700" y="6369150"/>
            <a:ext cx="18288000" cy="295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325"/>
              </a:lnSpc>
            </a:pPr>
            <a:r>
              <a:rPr lang="en-US" sz="21063" b="1" spc="3370">
                <a:solidFill>
                  <a:srgbClr val="041226">
                    <a:alpha val="3922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Techniques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5143500"/>
            <a:ext cx="9144000" cy="5143500"/>
            <a:chOff x="0" y="0"/>
            <a:chExt cx="2408296" cy="13546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08296" cy="1354667"/>
            </a:xfrm>
            <a:custGeom>
              <a:avLst/>
              <a:gdLst/>
              <a:ahLst/>
              <a:cxnLst/>
              <a:rect l="l" t="t" r="r" b="b"/>
              <a:pathLst>
                <a:path w="2408296" h="1354667">
                  <a:moveTo>
                    <a:pt x="0" y="0"/>
                  </a:moveTo>
                  <a:lnTo>
                    <a:pt x="2408296" y="0"/>
                  </a:lnTo>
                  <a:lnTo>
                    <a:pt x="2408296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408296" cy="1383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46518" y="645746"/>
            <a:ext cx="9202899" cy="1134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48"/>
              </a:lnSpc>
              <a:spcBef>
                <a:spcPct val="0"/>
              </a:spcBef>
            </a:pPr>
            <a:r>
              <a:rPr lang="en-US" sz="5963" b="1" u="sng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Data &amp; Implementation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4000" y="0"/>
            <a:ext cx="9144000" cy="5143500"/>
            <a:chOff x="0" y="0"/>
            <a:chExt cx="2408296" cy="13546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08296" cy="1354667"/>
            </a:xfrm>
            <a:custGeom>
              <a:avLst/>
              <a:gdLst/>
              <a:ahLst/>
              <a:cxnLst/>
              <a:rect l="l" t="t" r="r" b="b"/>
              <a:pathLst>
                <a:path w="2408296" h="1354667">
                  <a:moveTo>
                    <a:pt x="0" y="0"/>
                  </a:moveTo>
                  <a:lnTo>
                    <a:pt x="2408296" y="0"/>
                  </a:lnTo>
                  <a:lnTo>
                    <a:pt x="2408296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C8BC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2408296" cy="1383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914400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6275" b="-34887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0" y="5143500"/>
            <a:ext cx="9144000" cy="5823169"/>
          </a:xfrm>
          <a:custGeom>
            <a:avLst/>
            <a:gdLst/>
            <a:ahLst/>
            <a:cxnLst/>
            <a:rect l="l" t="t" r="r" b="b"/>
            <a:pathLst>
              <a:path w="9144000" h="5823169">
                <a:moveTo>
                  <a:pt x="0" y="0"/>
                </a:moveTo>
                <a:lnTo>
                  <a:pt x="9144000" y="0"/>
                </a:lnTo>
                <a:lnTo>
                  <a:pt x="9144000" y="5823169"/>
                </a:lnTo>
                <a:lnTo>
                  <a:pt x="0" y="58231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8513" b="-28513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749416" y="5371739"/>
            <a:ext cx="7810935" cy="1487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17"/>
              </a:lnSpc>
              <a:spcBef>
                <a:spcPct val="0"/>
              </a:spcBef>
            </a:pPr>
            <a:r>
              <a:rPr lang="en-US" sz="7798" b="1" u="sng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Techniques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31636" y="6773862"/>
            <a:ext cx="7917175" cy="2376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6"/>
              </a:lnSpc>
            </a:pPr>
            <a:endParaRPr/>
          </a:p>
          <a:p>
            <a:pPr marL="522928" lvl="1" indent="-261464" algn="l">
              <a:lnSpc>
                <a:spcPts val="3826"/>
              </a:lnSpc>
              <a:buFont typeface="Arial"/>
              <a:buChar char="•"/>
            </a:pPr>
            <a:r>
              <a:rPr lang="en-US" sz="242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Sentiment Analysis: VADER, TextBlob</a:t>
            </a:r>
          </a:p>
          <a:p>
            <a:pPr marL="522928" lvl="1" indent="-261464" algn="l">
              <a:lnSpc>
                <a:spcPts val="3826"/>
              </a:lnSpc>
              <a:buFont typeface="Arial"/>
              <a:buChar char="•"/>
            </a:pPr>
            <a:r>
              <a:rPr lang="en-US" sz="242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Keyword Extraction: Frequency &amp; Word Cloud</a:t>
            </a:r>
          </a:p>
          <a:p>
            <a:pPr marL="522928" lvl="1" indent="-261464" algn="l">
              <a:lnSpc>
                <a:spcPts val="3826"/>
              </a:lnSpc>
              <a:buFont typeface="Arial"/>
              <a:buChar char="•"/>
            </a:pPr>
            <a:r>
              <a:rPr lang="en-US" sz="242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Engagement Analysis: Correlation between sentiment &amp; likes/retweets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6518" y="2227822"/>
            <a:ext cx="4213805" cy="199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9335" lvl="1" indent="-274667" algn="l">
              <a:lnSpc>
                <a:spcPts val="4020"/>
              </a:lnSpc>
              <a:spcBef>
                <a:spcPct val="0"/>
              </a:spcBef>
              <a:buFont typeface="Arial"/>
              <a:buChar char="•"/>
            </a:pPr>
            <a:r>
              <a:rPr lang="en-US" sz="2544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Tweets_sample.csv</a:t>
            </a:r>
          </a:p>
          <a:p>
            <a:pPr marL="549335" lvl="1" indent="-274667" algn="l">
              <a:lnSpc>
                <a:spcPts val="4020"/>
              </a:lnSpc>
              <a:spcBef>
                <a:spcPct val="0"/>
              </a:spcBef>
              <a:buFont typeface="Arial"/>
              <a:buChar char="•"/>
            </a:pPr>
            <a:r>
              <a:rPr lang="en-US" sz="2544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Reviews_data.csv</a:t>
            </a:r>
          </a:p>
          <a:p>
            <a:pPr marL="549335" lvl="1" indent="-274667" algn="l">
              <a:lnSpc>
                <a:spcPts val="4020"/>
              </a:lnSpc>
              <a:spcBef>
                <a:spcPct val="0"/>
              </a:spcBef>
              <a:buFont typeface="Arial"/>
              <a:buChar char="•"/>
            </a:pPr>
            <a:r>
              <a:rPr lang="en-US" sz="2544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News_headlines.csv</a:t>
            </a:r>
          </a:p>
          <a:p>
            <a:pPr algn="l">
              <a:lnSpc>
                <a:spcPts val="4020"/>
              </a:lnSpc>
              <a:spcBef>
                <a:spcPct val="0"/>
              </a:spcBef>
            </a:pPr>
            <a:endParaRPr lang="en-US" sz="2544" u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622446" y="3054593"/>
            <a:ext cx="3492854" cy="1865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7155" lvl="1" indent="-258577" algn="l">
              <a:lnSpc>
                <a:spcPts val="3784"/>
              </a:lnSpc>
              <a:spcBef>
                <a:spcPct val="0"/>
              </a:spcBef>
              <a:buFont typeface="Arial"/>
              <a:buChar char="•"/>
            </a:pPr>
            <a:r>
              <a:rPr lang="en-US" sz="2395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Tokenization</a:t>
            </a:r>
          </a:p>
          <a:p>
            <a:pPr marL="517155" lvl="1" indent="-258577" algn="l">
              <a:lnSpc>
                <a:spcPts val="3784"/>
              </a:lnSpc>
              <a:spcBef>
                <a:spcPct val="0"/>
              </a:spcBef>
              <a:buFont typeface="Arial"/>
              <a:buChar char="•"/>
            </a:pPr>
            <a:r>
              <a:rPr lang="en-US" sz="2395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stopword removal</a:t>
            </a:r>
          </a:p>
          <a:p>
            <a:pPr marL="517155" lvl="1" indent="-258577" algn="l">
              <a:lnSpc>
                <a:spcPts val="3784"/>
              </a:lnSpc>
              <a:spcBef>
                <a:spcPct val="0"/>
              </a:spcBef>
              <a:buFont typeface="Arial"/>
              <a:buChar char="•"/>
            </a:pPr>
            <a:r>
              <a:rPr lang="en-US" sz="2395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normalization</a:t>
            </a:r>
          </a:p>
          <a:p>
            <a:pPr algn="l">
              <a:lnSpc>
                <a:spcPts val="3784"/>
              </a:lnSpc>
              <a:spcBef>
                <a:spcPct val="0"/>
              </a:spcBef>
            </a:pPr>
            <a:endParaRPr lang="en-US" sz="2395" u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84001" y="795000"/>
            <a:ext cx="14649250" cy="144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80"/>
              </a:lnSpc>
            </a:pPr>
            <a:r>
              <a:rPr lang="en-US" sz="9226" b="1" u="sng" spc="73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Results &amp; visual insights</a:t>
            </a:r>
          </a:p>
        </p:txBody>
      </p:sp>
      <p:sp>
        <p:nvSpPr>
          <p:cNvPr id="4" name="TextBox 4"/>
          <p:cNvSpPr txBox="1"/>
          <p:nvPr/>
        </p:nvSpPr>
        <p:spPr>
          <a:xfrm rot="-5400000">
            <a:off x="10765843" y="2899939"/>
            <a:ext cx="10434482" cy="4339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31"/>
              </a:lnSpc>
            </a:pPr>
            <a:r>
              <a:rPr lang="en-US" sz="11990" b="1" spc="1918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results &amp; visual insights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4001" y="2578296"/>
            <a:ext cx="6286362" cy="4170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2399" b="1">
                <a:solidFill>
                  <a:srgbClr val="4D4D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Insights:</a:t>
            </a:r>
          </a:p>
          <a:p>
            <a:pPr algn="l">
              <a:lnSpc>
                <a:spcPts val="3719"/>
              </a:lnSpc>
            </a:pPr>
            <a:r>
              <a:rPr lang="en-US" sz="23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•Tweets show high polarity variance (~0.65 correlation between sentiment &amp; engagement)</a:t>
            </a:r>
          </a:p>
          <a:p>
            <a:pPr algn="l">
              <a:lnSpc>
                <a:spcPts val="3719"/>
              </a:lnSpc>
            </a:pPr>
            <a:r>
              <a:rPr lang="en-US" sz="23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• Reviews are mostly positive (avg sentiment &gt; 0.3)</a:t>
            </a:r>
          </a:p>
          <a:p>
            <a:pPr algn="l">
              <a:lnSpc>
                <a:spcPts val="3719"/>
              </a:lnSpc>
            </a:pPr>
            <a:r>
              <a:rPr lang="en-US" sz="239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• News headlines remain neutral, useful for event trend tracking</a:t>
            </a:r>
          </a:p>
          <a:p>
            <a:pPr algn="l">
              <a:lnSpc>
                <a:spcPts val="3719"/>
              </a:lnSpc>
            </a:pPr>
            <a:endParaRPr lang="en-US" sz="2399">
              <a:solidFill>
                <a:srgbClr val="4D4D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84001" y="7035700"/>
            <a:ext cx="6510689" cy="249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01"/>
              </a:lnSpc>
            </a:pPr>
            <a:r>
              <a:rPr lang="en-US" sz="2299" b="1" u="none" strike="noStrike">
                <a:solidFill>
                  <a:srgbClr val="4D4D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Visuals:</a:t>
            </a:r>
          </a:p>
          <a:p>
            <a:pPr marL="0" lvl="0" indent="0" algn="l">
              <a:lnSpc>
                <a:spcPts val="4001"/>
              </a:lnSpc>
            </a:pPr>
            <a:r>
              <a:rPr lang="en-US" sz="2299" u="none" strike="noStrike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• Sentiment Distribution</a:t>
            </a:r>
          </a:p>
          <a:p>
            <a:pPr marL="0" lvl="0" indent="0" algn="l">
              <a:lnSpc>
                <a:spcPts val="4001"/>
              </a:lnSpc>
            </a:pPr>
            <a:r>
              <a:rPr lang="en-US" sz="2299" u="none" strike="noStrike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• Tweets Word Cloud</a:t>
            </a:r>
          </a:p>
          <a:p>
            <a:pPr marL="0" lvl="0" indent="0" algn="l">
              <a:lnSpc>
                <a:spcPts val="4001"/>
              </a:lnSpc>
            </a:pPr>
            <a:r>
              <a:rPr lang="en-US" sz="2299" u="none" strike="noStrike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• Final Dashboard Snapshot</a:t>
            </a:r>
          </a:p>
          <a:p>
            <a:pPr marL="0" lvl="0" indent="0" algn="l">
              <a:lnSpc>
                <a:spcPts val="4001"/>
              </a:lnSpc>
            </a:pPr>
            <a:endParaRPr lang="en-US" sz="2299" u="none" strike="noStrike">
              <a:solidFill>
                <a:srgbClr val="4D4D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9626035" cy="4719730"/>
          </a:xfrm>
          <a:custGeom>
            <a:avLst/>
            <a:gdLst/>
            <a:ahLst/>
            <a:cxnLst/>
            <a:rect l="l" t="t" r="r" b="b"/>
            <a:pathLst>
              <a:path w="9626035" h="4719730">
                <a:moveTo>
                  <a:pt x="0" y="0"/>
                </a:moveTo>
                <a:lnTo>
                  <a:pt x="9626035" y="0"/>
                </a:lnTo>
                <a:lnTo>
                  <a:pt x="9626035" y="4719730"/>
                </a:lnTo>
                <a:lnTo>
                  <a:pt x="0" y="4719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68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626035" y="0"/>
            <a:ext cx="8696070" cy="6522053"/>
          </a:xfrm>
          <a:custGeom>
            <a:avLst/>
            <a:gdLst/>
            <a:ahLst/>
            <a:cxnLst/>
            <a:rect l="l" t="t" r="r" b="b"/>
            <a:pathLst>
              <a:path w="8696070" h="6522053">
                <a:moveTo>
                  <a:pt x="0" y="0"/>
                </a:moveTo>
                <a:lnTo>
                  <a:pt x="8696070" y="0"/>
                </a:lnTo>
                <a:lnTo>
                  <a:pt x="8696070" y="6522053"/>
                </a:lnTo>
                <a:lnTo>
                  <a:pt x="0" y="65220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4719730"/>
            <a:ext cx="9626035" cy="5750608"/>
          </a:xfrm>
          <a:custGeom>
            <a:avLst/>
            <a:gdLst/>
            <a:ahLst/>
            <a:cxnLst/>
            <a:rect l="l" t="t" r="r" b="b"/>
            <a:pathLst>
              <a:path w="9626035" h="5750608">
                <a:moveTo>
                  <a:pt x="0" y="0"/>
                </a:moveTo>
                <a:lnTo>
                  <a:pt x="9626035" y="0"/>
                </a:lnTo>
                <a:lnTo>
                  <a:pt x="9626035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309" b="-2309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458856" y="5771786"/>
            <a:ext cx="9030428" cy="4515214"/>
          </a:xfrm>
          <a:custGeom>
            <a:avLst/>
            <a:gdLst/>
            <a:ahLst/>
            <a:cxnLst/>
            <a:rect l="l" t="t" r="r" b="b"/>
            <a:pathLst>
              <a:path w="9030428" h="4515214">
                <a:moveTo>
                  <a:pt x="0" y="0"/>
                </a:moveTo>
                <a:lnTo>
                  <a:pt x="9030428" y="0"/>
                </a:lnTo>
                <a:lnTo>
                  <a:pt x="9030428" y="4515214"/>
                </a:lnTo>
                <a:lnTo>
                  <a:pt x="0" y="45152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6973" y="0"/>
            <a:ext cx="7682440" cy="4801525"/>
          </a:xfrm>
          <a:custGeom>
            <a:avLst/>
            <a:gdLst/>
            <a:ahLst/>
            <a:cxnLst/>
            <a:rect l="l" t="t" r="r" b="b"/>
            <a:pathLst>
              <a:path w="7682440" h="4801525">
                <a:moveTo>
                  <a:pt x="0" y="0"/>
                </a:moveTo>
                <a:lnTo>
                  <a:pt x="7682440" y="0"/>
                </a:lnTo>
                <a:lnTo>
                  <a:pt x="7682440" y="4801525"/>
                </a:lnTo>
                <a:lnTo>
                  <a:pt x="0" y="4801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504555" y="0"/>
            <a:ext cx="10783445" cy="5650629"/>
          </a:xfrm>
          <a:custGeom>
            <a:avLst/>
            <a:gdLst/>
            <a:ahLst/>
            <a:cxnLst/>
            <a:rect l="l" t="t" r="r" b="b"/>
            <a:pathLst>
              <a:path w="10783445" h="5650629">
                <a:moveTo>
                  <a:pt x="0" y="0"/>
                </a:moveTo>
                <a:lnTo>
                  <a:pt x="10783445" y="0"/>
                </a:lnTo>
                <a:lnTo>
                  <a:pt x="10783445" y="5650629"/>
                </a:lnTo>
                <a:lnTo>
                  <a:pt x="0" y="56506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80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6973" y="4801525"/>
            <a:ext cx="8721608" cy="5485475"/>
          </a:xfrm>
          <a:custGeom>
            <a:avLst/>
            <a:gdLst/>
            <a:ahLst/>
            <a:cxnLst/>
            <a:rect l="l" t="t" r="r" b="b"/>
            <a:pathLst>
              <a:path w="8721608" h="5485475">
                <a:moveTo>
                  <a:pt x="0" y="0"/>
                </a:moveTo>
                <a:lnTo>
                  <a:pt x="8721609" y="0"/>
                </a:lnTo>
                <a:lnTo>
                  <a:pt x="8721609" y="5485475"/>
                </a:lnTo>
                <a:lnTo>
                  <a:pt x="0" y="5485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16" r="-31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598945" y="5650629"/>
            <a:ext cx="8594664" cy="4601529"/>
          </a:xfrm>
          <a:custGeom>
            <a:avLst/>
            <a:gdLst/>
            <a:ahLst/>
            <a:cxnLst/>
            <a:rect l="l" t="t" r="r" b="b"/>
            <a:pathLst>
              <a:path w="8594664" h="4601529">
                <a:moveTo>
                  <a:pt x="0" y="0"/>
                </a:moveTo>
                <a:lnTo>
                  <a:pt x="8594664" y="0"/>
                </a:lnTo>
                <a:lnTo>
                  <a:pt x="8594664" y="4601530"/>
                </a:lnTo>
                <a:lnTo>
                  <a:pt x="0" y="46015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4109" b="-2621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79878" y="4542232"/>
            <a:ext cx="16308122" cy="5744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995"/>
              </a:lnSpc>
            </a:pPr>
            <a:r>
              <a:rPr lang="en-US" sz="22983" b="1" spc="3677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our solutions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984768"/>
            <a:ext cx="9221947" cy="3273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50"/>
              </a:lnSpc>
            </a:pPr>
            <a:r>
              <a:rPr lang="en-US" sz="11179" b="1" spc="89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Conclusion &amp; Future Scope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61476" y="1835200"/>
            <a:ext cx="6356396" cy="5023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7"/>
              </a:lnSpc>
            </a:pPr>
            <a:r>
              <a:rPr lang="en-US" sz="2762" b="1">
                <a:solidFill>
                  <a:srgbClr val="4D4D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Conclusion:</a:t>
            </a:r>
          </a:p>
          <a:p>
            <a:pPr algn="l">
              <a:lnSpc>
                <a:spcPts val="4997"/>
              </a:lnSpc>
            </a:pPr>
            <a:r>
              <a:rPr lang="en-US" sz="2562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• Demonstrated NLP-based multi-</a:t>
            </a:r>
          </a:p>
          <a:p>
            <a:pPr algn="l">
              <a:lnSpc>
                <a:spcPts val="4997"/>
              </a:lnSpc>
            </a:pPr>
            <a:r>
              <a:rPr lang="en-US" sz="2562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   source sentiment analytics</a:t>
            </a:r>
          </a:p>
          <a:p>
            <a:pPr algn="l">
              <a:lnSpc>
                <a:spcPts val="4997"/>
              </a:lnSpc>
            </a:pPr>
            <a:r>
              <a:rPr lang="en-US" sz="2562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• Unified dashboard for public </a:t>
            </a:r>
          </a:p>
          <a:p>
            <a:pPr algn="l">
              <a:lnSpc>
                <a:spcPts val="4997"/>
              </a:lnSpc>
            </a:pPr>
            <a:r>
              <a:rPr lang="en-US" sz="2562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   sentiment &amp; engagement </a:t>
            </a:r>
          </a:p>
          <a:p>
            <a:pPr algn="l">
              <a:lnSpc>
                <a:spcPts val="4997"/>
              </a:lnSpc>
            </a:pPr>
            <a:r>
              <a:rPr lang="en-US" sz="2562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   visualization</a:t>
            </a:r>
          </a:p>
          <a:p>
            <a:pPr algn="l">
              <a:lnSpc>
                <a:spcPts val="4997"/>
              </a:lnSpc>
            </a:pPr>
            <a:endParaRPr lang="en-US" sz="2562">
              <a:solidFill>
                <a:srgbClr val="4D4D4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997"/>
              </a:lnSpc>
            </a:pPr>
            <a:endParaRPr lang="en-US" sz="2562">
              <a:solidFill>
                <a:srgbClr val="4D4D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045528" y="1844725"/>
            <a:ext cx="4882537" cy="3657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3"/>
              </a:lnSpc>
            </a:pPr>
            <a:r>
              <a:rPr lang="en-US" sz="2739" b="1">
                <a:solidFill>
                  <a:srgbClr val="4D4D4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Enhancements:</a:t>
            </a:r>
          </a:p>
          <a:p>
            <a:pPr algn="l">
              <a:lnSpc>
                <a:spcPts val="4851"/>
              </a:lnSpc>
            </a:pPr>
            <a:r>
              <a:rPr lang="en-US" sz="253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• Live Twitter API integration</a:t>
            </a:r>
          </a:p>
          <a:p>
            <a:pPr algn="l">
              <a:lnSpc>
                <a:spcPts val="4851"/>
              </a:lnSpc>
            </a:pPr>
            <a:r>
              <a:rPr lang="en-US" sz="253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• Topic modeling (LDA/BERT)</a:t>
            </a:r>
          </a:p>
          <a:p>
            <a:pPr algn="l">
              <a:lnSpc>
                <a:spcPts val="4851"/>
              </a:lnSpc>
            </a:pPr>
            <a:r>
              <a:rPr lang="en-US" sz="253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• Streamlit-based interactive    </a:t>
            </a:r>
          </a:p>
          <a:p>
            <a:pPr algn="l">
              <a:lnSpc>
                <a:spcPts val="4851"/>
              </a:lnSpc>
            </a:pPr>
            <a:r>
              <a:rPr lang="en-US" sz="2539">
                <a:solidFill>
                  <a:srgbClr val="4D4D4D"/>
                </a:solidFill>
                <a:latin typeface="Montserrat"/>
                <a:ea typeface="Montserrat"/>
                <a:cs typeface="Montserrat"/>
                <a:sym typeface="Montserrat"/>
              </a:rPr>
              <a:t>  dashboards</a:t>
            </a:r>
          </a:p>
          <a:p>
            <a:pPr algn="l">
              <a:lnSpc>
                <a:spcPts val="4851"/>
              </a:lnSpc>
            </a:pPr>
            <a:endParaRPr lang="en-US" sz="2539">
              <a:solidFill>
                <a:srgbClr val="4D4D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Freeform 7"/>
          <p:cNvSpPr/>
          <p:nvPr/>
        </p:nvSpPr>
        <p:spPr>
          <a:xfrm flipH="1" flipV="1">
            <a:off x="1094413" y="1028700"/>
            <a:ext cx="759822" cy="750151"/>
          </a:xfrm>
          <a:custGeom>
            <a:avLst/>
            <a:gdLst/>
            <a:ahLst/>
            <a:cxnLst/>
            <a:rect l="l" t="t" r="r" b="b"/>
            <a:pathLst>
              <a:path w="759822" h="750151">
                <a:moveTo>
                  <a:pt x="759821" y="750151"/>
                </a:moveTo>
                <a:lnTo>
                  <a:pt x="0" y="750151"/>
                </a:lnTo>
                <a:lnTo>
                  <a:pt x="0" y="0"/>
                </a:lnTo>
                <a:lnTo>
                  <a:pt x="759821" y="0"/>
                </a:lnTo>
                <a:lnTo>
                  <a:pt x="759821" y="75015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887790" y="8891519"/>
            <a:ext cx="371510" cy="366781"/>
          </a:xfrm>
          <a:custGeom>
            <a:avLst/>
            <a:gdLst/>
            <a:ahLst/>
            <a:cxnLst/>
            <a:rect l="l" t="t" r="r" b="b"/>
            <a:pathLst>
              <a:path w="371510" h="366781">
                <a:moveTo>
                  <a:pt x="0" y="0"/>
                </a:moveTo>
                <a:lnTo>
                  <a:pt x="371510" y="0"/>
                </a:lnTo>
                <a:lnTo>
                  <a:pt x="37151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2098147" y="7683231"/>
            <a:ext cx="20386147" cy="2552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30"/>
              </a:lnSpc>
            </a:pPr>
            <a:r>
              <a:rPr lang="en-US" sz="18310" b="1" spc="2929">
                <a:solidFill>
                  <a:srgbClr val="041226">
                    <a:alpha val="4706"/>
                  </a:srgbClr>
                </a:solidFill>
                <a:latin typeface="Futura Bold"/>
                <a:ea typeface="Futura Bold"/>
                <a:cs typeface="Futura Bold"/>
                <a:sym typeface="Futura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flipV="1">
            <a:off x="16499478" y="1028700"/>
            <a:ext cx="759822" cy="750151"/>
          </a:xfrm>
          <a:custGeom>
            <a:avLst/>
            <a:gdLst/>
            <a:ahLst/>
            <a:cxnLst/>
            <a:rect l="l" t="t" r="r" b="b"/>
            <a:pathLst>
              <a:path w="759822" h="750151">
                <a:moveTo>
                  <a:pt x="0" y="750151"/>
                </a:moveTo>
                <a:lnTo>
                  <a:pt x="759822" y="750151"/>
                </a:lnTo>
                <a:lnTo>
                  <a:pt x="759822" y="0"/>
                </a:lnTo>
                <a:lnTo>
                  <a:pt x="0" y="0"/>
                </a:lnTo>
                <a:lnTo>
                  <a:pt x="0" y="75015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028700" y="8891519"/>
            <a:ext cx="371510" cy="366781"/>
          </a:xfrm>
          <a:custGeom>
            <a:avLst/>
            <a:gdLst/>
            <a:ahLst/>
            <a:cxnLst/>
            <a:rect l="l" t="t" r="r" b="b"/>
            <a:pathLst>
              <a:path w="371510" h="366781">
                <a:moveTo>
                  <a:pt x="371510" y="0"/>
                </a:moveTo>
                <a:lnTo>
                  <a:pt x="0" y="0"/>
                </a:lnTo>
                <a:lnTo>
                  <a:pt x="0" y="366781"/>
                </a:lnTo>
                <a:lnTo>
                  <a:pt x="371510" y="366781"/>
                </a:lnTo>
                <a:lnTo>
                  <a:pt x="3715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488665" y="1028700"/>
            <a:ext cx="3838623" cy="2743200"/>
            <a:chOff x="0" y="0"/>
            <a:chExt cx="113737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7370" cy="812800"/>
            </a:xfrm>
            <a:custGeom>
              <a:avLst/>
              <a:gdLst/>
              <a:ahLst/>
              <a:cxnLst/>
              <a:rect l="l" t="t" r="r" b="b"/>
              <a:pathLst>
                <a:path w="1137370" h="812800">
                  <a:moveTo>
                    <a:pt x="0" y="0"/>
                  </a:moveTo>
                  <a:lnTo>
                    <a:pt x="1137370" y="0"/>
                  </a:lnTo>
                  <a:lnTo>
                    <a:pt x="113737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>
                <a:alphaModFix amt="80000"/>
              </a:blip>
              <a:stretch>
                <a:fillRect l="-6354" r="-635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327287" y="3788503"/>
            <a:ext cx="3840527" cy="2743200"/>
            <a:chOff x="0" y="0"/>
            <a:chExt cx="1137934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7934" cy="812800"/>
            </a:xfrm>
            <a:custGeom>
              <a:avLst/>
              <a:gdLst/>
              <a:ahLst/>
              <a:cxnLst/>
              <a:rect l="l" t="t" r="r" b="b"/>
              <a:pathLst>
                <a:path w="1137934" h="812800">
                  <a:moveTo>
                    <a:pt x="0" y="0"/>
                  </a:moveTo>
                  <a:lnTo>
                    <a:pt x="1137934" y="0"/>
                  </a:lnTo>
                  <a:lnTo>
                    <a:pt x="1137934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>
                <a:alphaModFix amt="80000"/>
              </a:blip>
              <a:stretch>
                <a:fillRect l="-11907" r="-2201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8488665" y="6515100"/>
            <a:ext cx="3838623" cy="2743200"/>
            <a:chOff x="0" y="0"/>
            <a:chExt cx="113737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7370" cy="812800"/>
            </a:xfrm>
            <a:custGeom>
              <a:avLst/>
              <a:gdLst/>
              <a:ahLst/>
              <a:cxnLst/>
              <a:rect l="l" t="t" r="r" b="b"/>
              <a:pathLst>
                <a:path w="1137370" h="812800">
                  <a:moveTo>
                    <a:pt x="0" y="0"/>
                  </a:moveTo>
                  <a:lnTo>
                    <a:pt x="1137370" y="0"/>
                  </a:lnTo>
                  <a:lnTo>
                    <a:pt x="113737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>
                <a:alphaModFix amt="80000"/>
              </a:blip>
              <a:stretch>
                <a:fillRect l="-18263" r="-18263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8488665" y="3771900"/>
            <a:ext cx="3838623" cy="2743200"/>
            <a:chOff x="0" y="0"/>
            <a:chExt cx="930614" cy="6650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30614" cy="665046"/>
            </a:xfrm>
            <a:custGeom>
              <a:avLst/>
              <a:gdLst/>
              <a:ahLst/>
              <a:cxnLst/>
              <a:rect l="l" t="t" r="r" b="b"/>
              <a:pathLst>
                <a:path w="930614" h="665046">
                  <a:moveTo>
                    <a:pt x="0" y="0"/>
                  </a:moveTo>
                  <a:lnTo>
                    <a:pt x="930614" y="0"/>
                  </a:lnTo>
                  <a:lnTo>
                    <a:pt x="930614" y="665046"/>
                  </a:lnTo>
                  <a:lnTo>
                    <a:pt x="0" y="665046"/>
                  </a:ln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930614" cy="693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327287" y="1028700"/>
            <a:ext cx="3840527" cy="2743200"/>
            <a:chOff x="0" y="0"/>
            <a:chExt cx="931076" cy="66504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31076" cy="665046"/>
            </a:xfrm>
            <a:custGeom>
              <a:avLst/>
              <a:gdLst/>
              <a:ahLst/>
              <a:cxnLst/>
              <a:rect l="l" t="t" r="r" b="b"/>
              <a:pathLst>
                <a:path w="931076" h="665046">
                  <a:moveTo>
                    <a:pt x="0" y="0"/>
                  </a:moveTo>
                  <a:lnTo>
                    <a:pt x="931076" y="0"/>
                  </a:lnTo>
                  <a:lnTo>
                    <a:pt x="931076" y="665046"/>
                  </a:lnTo>
                  <a:lnTo>
                    <a:pt x="0" y="665046"/>
                  </a:ln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931076" cy="693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327287" y="6515100"/>
            <a:ext cx="3840527" cy="2743200"/>
            <a:chOff x="0" y="0"/>
            <a:chExt cx="931076" cy="66504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31076" cy="665046"/>
            </a:xfrm>
            <a:custGeom>
              <a:avLst/>
              <a:gdLst/>
              <a:ahLst/>
              <a:cxnLst/>
              <a:rect l="l" t="t" r="r" b="b"/>
              <a:pathLst>
                <a:path w="931076" h="665046">
                  <a:moveTo>
                    <a:pt x="0" y="0"/>
                  </a:moveTo>
                  <a:lnTo>
                    <a:pt x="931076" y="0"/>
                  </a:lnTo>
                  <a:lnTo>
                    <a:pt x="931076" y="665046"/>
                  </a:lnTo>
                  <a:lnTo>
                    <a:pt x="0" y="665046"/>
                  </a:lnTo>
                  <a:close/>
                </a:path>
              </a:pathLst>
            </a:custGeom>
            <a:solidFill>
              <a:srgbClr val="7C7AAC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931076" cy="693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00210" y="2314575"/>
            <a:ext cx="5181742" cy="420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06"/>
              </a:lnSpc>
            </a:pPr>
            <a:r>
              <a:rPr lang="en-US" sz="14346" b="1" spc="114">
                <a:solidFill>
                  <a:srgbClr val="7C7AAC"/>
                </a:solidFill>
                <a:latin typeface="Futura Bold"/>
                <a:ea typeface="Futura Bold"/>
                <a:cs typeface="Futura Bold"/>
                <a:sym typeface="Futur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</Words>
  <Application>Microsoft Office PowerPoint</Application>
  <PresentationFormat>Custom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Montserrat Bold</vt:lpstr>
      <vt:lpstr>Futura Bold</vt:lpstr>
      <vt:lpstr>Montserrat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Capstone_project</dc:title>
  <cp:lastModifiedBy>Abhishek Gantana</cp:lastModifiedBy>
  <cp:revision>2</cp:revision>
  <dcterms:created xsi:type="dcterms:W3CDTF">2006-08-16T00:00:00Z</dcterms:created>
  <dcterms:modified xsi:type="dcterms:W3CDTF">2025-11-13T09:43:57Z</dcterms:modified>
  <dc:identifier>DAG4NYyhr8M</dc:identifier>
</cp:coreProperties>
</file>